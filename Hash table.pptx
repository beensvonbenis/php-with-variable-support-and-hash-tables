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C817B0-CE8D-46E0-880D-7043F40D5510}" type="doc">
      <dgm:prSet loTypeId="urn:microsoft.com/office/officeart/2005/8/layout/vList5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1DE8359-3606-4CF2-B02A-6A4BEA8C2202}">
      <dgm:prSet/>
      <dgm:spPr/>
      <dgm:t>
        <a:bodyPr/>
        <a:lstStyle/>
        <a:p>
          <a:r>
            <a:rPr lang="pl-PL"/>
            <a:t>Pozwala na dynamiczne powiązywanie kluczy z wartościami</a:t>
          </a:r>
          <a:endParaRPr lang="en-US"/>
        </a:p>
      </dgm:t>
    </dgm:pt>
    <dgm:pt modelId="{CCD926B2-EA8E-464A-B8B2-E82DCCC92305}" type="parTrans" cxnId="{C3F73AEA-0BA4-48CA-95A4-41ED8A3247C5}">
      <dgm:prSet/>
      <dgm:spPr/>
      <dgm:t>
        <a:bodyPr/>
        <a:lstStyle/>
        <a:p>
          <a:endParaRPr lang="en-US"/>
        </a:p>
      </dgm:t>
    </dgm:pt>
    <dgm:pt modelId="{E697C05A-339A-4D81-8D35-0492B3A64180}" type="sibTrans" cxnId="{C3F73AEA-0BA4-48CA-95A4-41ED8A3247C5}">
      <dgm:prSet/>
      <dgm:spPr/>
      <dgm:t>
        <a:bodyPr/>
        <a:lstStyle/>
        <a:p>
          <a:endParaRPr lang="en-US"/>
        </a:p>
      </dgm:t>
    </dgm:pt>
    <dgm:pt modelId="{1DB78E92-1FEE-47F7-812A-EC8AAF2C6CA5}">
      <dgm:prSet/>
      <dgm:spPr/>
      <dgm:t>
        <a:bodyPr/>
        <a:lstStyle/>
        <a:p>
          <a:r>
            <a:rPr lang="pl-PL"/>
            <a:t>Da się to zrobić samemu nie jest to żadna magia</a:t>
          </a:r>
          <a:endParaRPr lang="en-US"/>
        </a:p>
      </dgm:t>
    </dgm:pt>
    <dgm:pt modelId="{E0B54F04-213A-442A-9526-E4A02AB2E359}" type="parTrans" cxnId="{4C25863E-2DBE-4CC9-B120-828D425590B5}">
      <dgm:prSet/>
      <dgm:spPr/>
      <dgm:t>
        <a:bodyPr/>
        <a:lstStyle/>
        <a:p>
          <a:endParaRPr lang="en-US"/>
        </a:p>
      </dgm:t>
    </dgm:pt>
    <dgm:pt modelId="{53388704-8990-48C1-9F8C-B27818E2B109}" type="sibTrans" cxnId="{4C25863E-2DBE-4CC9-B120-828D425590B5}">
      <dgm:prSet/>
      <dgm:spPr/>
      <dgm:t>
        <a:bodyPr/>
        <a:lstStyle/>
        <a:p>
          <a:endParaRPr lang="en-US"/>
        </a:p>
      </dgm:t>
    </dgm:pt>
    <dgm:pt modelId="{EA745472-AA78-48CF-B302-9DB6BD25C225}">
      <dgm:prSet/>
      <dgm:spPr/>
      <dgm:t>
        <a:bodyPr/>
        <a:lstStyle/>
        <a:p>
          <a:r>
            <a:rPr lang="pl-PL"/>
            <a:t>Jest to nawet w miarę dobre rozwiązanie dlatego większość nowoczesnych języków programowania (albo pradawnych jak PHP) korzysta z tego rozwiązania</a:t>
          </a:r>
          <a:endParaRPr lang="en-US"/>
        </a:p>
      </dgm:t>
    </dgm:pt>
    <dgm:pt modelId="{2ABEECF1-6BAC-4873-8BD3-185B38551E01}" type="parTrans" cxnId="{33D31849-4075-4B95-9465-885E4638920F}">
      <dgm:prSet/>
      <dgm:spPr/>
      <dgm:t>
        <a:bodyPr/>
        <a:lstStyle/>
        <a:p>
          <a:endParaRPr lang="en-US"/>
        </a:p>
      </dgm:t>
    </dgm:pt>
    <dgm:pt modelId="{FE1FCA55-7A5A-4FAE-AD89-FF458E926880}" type="sibTrans" cxnId="{33D31849-4075-4B95-9465-885E4638920F}">
      <dgm:prSet/>
      <dgm:spPr/>
      <dgm:t>
        <a:bodyPr/>
        <a:lstStyle/>
        <a:p>
          <a:endParaRPr lang="en-US"/>
        </a:p>
      </dgm:t>
    </dgm:pt>
    <dgm:pt modelId="{4557CE26-2E9E-4448-913B-7AEC55E94A9F}" type="pres">
      <dgm:prSet presAssocID="{E6C817B0-CE8D-46E0-880D-7043F40D5510}" presName="Name0" presStyleCnt="0">
        <dgm:presLayoutVars>
          <dgm:dir/>
          <dgm:animLvl val="lvl"/>
          <dgm:resizeHandles val="exact"/>
        </dgm:presLayoutVars>
      </dgm:prSet>
      <dgm:spPr/>
    </dgm:pt>
    <dgm:pt modelId="{CF1E1C61-1363-42BC-8B54-A8C9548ED2C9}" type="pres">
      <dgm:prSet presAssocID="{01DE8359-3606-4CF2-B02A-6A4BEA8C2202}" presName="linNode" presStyleCnt="0"/>
      <dgm:spPr/>
    </dgm:pt>
    <dgm:pt modelId="{D4BA307D-1754-4D25-A20D-D441C14EBDB1}" type="pres">
      <dgm:prSet presAssocID="{01DE8359-3606-4CF2-B02A-6A4BEA8C2202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66BB60D-BD74-4D93-ACF0-C63AF24FFDBF}" type="pres">
      <dgm:prSet presAssocID="{E697C05A-339A-4D81-8D35-0492B3A64180}" presName="sp" presStyleCnt="0"/>
      <dgm:spPr/>
    </dgm:pt>
    <dgm:pt modelId="{94E22253-A9D7-48C8-ACE8-B99133E2A4C4}" type="pres">
      <dgm:prSet presAssocID="{1DB78E92-1FEE-47F7-812A-EC8AAF2C6CA5}" presName="linNode" presStyleCnt="0"/>
      <dgm:spPr/>
    </dgm:pt>
    <dgm:pt modelId="{2D79BF90-0FB3-4C8D-ADF5-F5B110B36C24}" type="pres">
      <dgm:prSet presAssocID="{1DB78E92-1FEE-47F7-812A-EC8AAF2C6CA5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5F3F90A0-4BEC-403A-A486-5C855A35084A}" type="pres">
      <dgm:prSet presAssocID="{53388704-8990-48C1-9F8C-B27818E2B109}" presName="sp" presStyleCnt="0"/>
      <dgm:spPr/>
    </dgm:pt>
    <dgm:pt modelId="{AF096C57-D306-4B55-9841-0B09741BADEF}" type="pres">
      <dgm:prSet presAssocID="{EA745472-AA78-48CF-B302-9DB6BD25C225}" presName="linNode" presStyleCnt="0"/>
      <dgm:spPr/>
    </dgm:pt>
    <dgm:pt modelId="{082F947E-B811-404C-817A-EF4ECA45E245}" type="pres">
      <dgm:prSet presAssocID="{EA745472-AA78-48CF-B302-9DB6BD25C225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4AABE81C-2ACB-4083-A5A7-42F5268F8530}" type="presOf" srcId="{EA745472-AA78-48CF-B302-9DB6BD25C225}" destId="{082F947E-B811-404C-817A-EF4ECA45E245}" srcOrd="0" destOrd="0" presId="urn:microsoft.com/office/officeart/2005/8/layout/vList5"/>
    <dgm:cxn modelId="{EDF8513B-38BD-4E9B-9915-41F32BE4E1CF}" type="presOf" srcId="{01DE8359-3606-4CF2-B02A-6A4BEA8C2202}" destId="{D4BA307D-1754-4D25-A20D-D441C14EBDB1}" srcOrd="0" destOrd="0" presId="urn:microsoft.com/office/officeart/2005/8/layout/vList5"/>
    <dgm:cxn modelId="{4C25863E-2DBE-4CC9-B120-828D425590B5}" srcId="{E6C817B0-CE8D-46E0-880D-7043F40D5510}" destId="{1DB78E92-1FEE-47F7-812A-EC8AAF2C6CA5}" srcOrd="1" destOrd="0" parTransId="{E0B54F04-213A-442A-9526-E4A02AB2E359}" sibTransId="{53388704-8990-48C1-9F8C-B27818E2B109}"/>
    <dgm:cxn modelId="{33D31849-4075-4B95-9465-885E4638920F}" srcId="{E6C817B0-CE8D-46E0-880D-7043F40D5510}" destId="{EA745472-AA78-48CF-B302-9DB6BD25C225}" srcOrd="2" destOrd="0" parTransId="{2ABEECF1-6BAC-4873-8BD3-185B38551E01}" sibTransId="{FE1FCA55-7A5A-4FAE-AD89-FF458E926880}"/>
    <dgm:cxn modelId="{9EFFF9BA-8867-49E2-9E4B-BC2B5F5BFEEC}" type="presOf" srcId="{1DB78E92-1FEE-47F7-812A-EC8AAF2C6CA5}" destId="{2D79BF90-0FB3-4C8D-ADF5-F5B110B36C24}" srcOrd="0" destOrd="0" presId="urn:microsoft.com/office/officeart/2005/8/layout/vList5"/>
    <dgm:cxn modelId="{E20D85C1-9614-455A-A9DB-847CCBC636E8}" type="presOf" srcId="{E6C817B0-CE8D-46E0-880D-7043F40D5510}" destId="{4557CE26-2E9E-4448-913B-7AEC55E94A9F}" srcOrd="0" destOrd="0" presId="urn:microsoft.com/office/officeart/2005/8/layout/vList5"/>
    <dgm:cxn modelId="{C3F73AEA-0BA4-48CA-95A4-41ED8A3247C5}" srcId="{E6C817B0-CE8D-46E0-880D-7043F40D5510}" destId="{01DE8359-3606-4CF2-B02A-6A4BEA8C2202}" srcOrd="0" destOrd="0" parTransId="{CCD926B2-EA8E-464A-B8B2-E82DCCC92305}" sibTransId="{E697C05A-339A-4D81-8D35-0492B3A64180}"/>
    <dgm:cxn modelId="{FD21C30E-B1F4-4B00-BC5B-BA3A81C8913B}" type="presParOf" srcId="{4557CE26-2E9E-4448-913B-7AEC55E94A9F}" destId="{CF1E1C61-1363-42BC-8B54-A8C9548ED2C9}" srcOrd="0" destOrd="0" presId="urn:microsoft.com/office/officeart/2005/8/layout/vList5"/>
    <dgm:cxn modelId="{04C963CC-906D-42E2-BE99-247BDDD96D81}" type="presParOf" srcId="{CF1E1C61-1363-42BC-8B54-A8C9548ED2C9}" destId="{D4BA307D-1754-4D25-A20D-D441C14EBDB1}" srcOrd="0" destOrd="0" presId="urn:microsoft.com/office/officeart/2005/8/layout/vList5"/>
    <dgm:cxn modelId="{3B33778C-E77A-447C-A751-4652EED3980F}" type="presParOf" srcId="{4557CE26-2E9E-4448-913B-7AEC55E94A9F}" destId="{E66BB60D-BD74-4D93-ACF0-C63AF24FFDBF}" srcOrd="1" destOrd="0" presId="urn:microsoft.com/office/officeart/2005/8/layout/vList5"/>
    <dgm:cxn modelId="{5ACBDCF6-8655-4A6D-A931-DFD29BA87B96}" type="presParOf" srcId="{4557CE26-2E9E-4448-913B-7AEC55E94A9F}" destId="{94E22253-A9D7-48C8-ACE8-B99133E2A4C4}" srcOrd="2" destOrd="0" presId="urn:microsoft.com/office/officeart/2005/8/layout/vList5"/>
    <dgm:cxn modelId="{8D53CB5A-B015-410F-8DC2-70FD1E96767A}" type="presParOf" srcId="{94E22253-A9D7-48C8-ACE8-B99133E2A4C4}" destId="{2D79BF90-0FB3-4C8D-ADF5-F5B110B36C24}" srcOrd="0" destOrd="0" presId="urn:microsoft.com/office/officeart/2005/8/layout/vList5"/>
    <dgm:cxn modelId="{BBADA3E8-59D1-4150-9CA4-8AC79A0CBAFB}" type="presParOf" srcId="{4557CE26-2E9E-4448-913B-7AEC55E94A9F}" destId="{5F3F90A0-4BEC-403A-A486-5C855A35084A}" srcOrd="3" destOrd="0" presId="urn:microsoft.com/office/officeart/2005/8/layout/vList5"/>
    <dgm:cxn modelId="{E8F8AF8F-E16E-45AE-A6F0-17927FE096E4}" type="presParOf" srcId="{4557CE26-2E9E-4448-913B-7AEC55E94A9F}" destId="{AF096C57-D306-4B55-9841-0B09741BADEF}" srcOrd="4" destOrd="0" presId="urn:microsoft.com/office/officeart/2005/8/layout/vList5"/>
    <dgm:cxn modelId="{BDA170A9-8C7E-4B20-A1B3-F949D27B5B0E}" type="presParOf" srcId="{AF096C57-D306-4B55-9841-0B09741BADEF}" destId="{082F947E-B811-404C-817A-EF4ECA45E24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C25C8F-0A19-4FF6-A4B4-C47A818C408B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CF45546-D11A-42CB-A425-151EECFF7354}">
      <dgm:prSet/>
      <dgm:spPr/>
      <dgm:t>
        <a:bodyPr/>
        <a:lstStyle/>
        <a:p>
          <a:r>
            <a:rPr lang="pl-PL"/>
            <a:t>Najpierw generujemy wektor dla „bucketów”</a:t>
          </a:r>
          <a:endParaRPr lang="en-US"/>
        </a:p>
      </dgm:t>
    </dgm:pt>
    <dgm:pt modelId="{936B91DF-BF49-4B21-9664-7EFD7A9B4291}" type="parTrans" cxnId="{5B1137C9-5447-4E94-9C1C-D0AE8DEA08B6}">
      <dgm:prSet/>
      <dgm:spPr/>
      <dgm:t>
        <a:bodyPr/>
        <a:lstStyle/>
        <a:p>
          <a:endParaRPr lang="en-US"/>
        </a:p>
      </dgm:t>
    </dgm:pt>
    <dgm:pt modelId="{8D589916-4449-4E5D-BDB5-0A7E50AAB315}" type="sibTrans" cxnId="{5B1137C9-5447-4E94-9C1C-D0AE8DEA08B6}">
      <dgm:prSet/>
      <dgm:spPr/>
      <dgm:t>
        <a:bodyPr/>
        <a:lstStyle/>
        <a:p>
          <a:endParaRPr lang="en-US"/>
        </a:p>
      </dgm:t>
    </dgm:pt>
    <dgm:pt modelId="{1865CE4E-4FF9-4199-854A-791C1FF534F3}">
      <dgm:prSet/>
      <dgm:spPr/>
      <dgm:t>
        <a:bodyPr/>
        <a:lstStyle/>
        <a:p>
          <a:r>
            <a:rPr lang="pl-PL"/>
            <a:t>Bucket to wektor dla danego obliczonego hashu a w nim</a:t>
          </a:r>
          <a:endParaRPr lang="en-US"/>
        </a:p>
      </dgm:t>
    </dgm:pt>
    <dgm:pt modelId="{EDEF31E8-4B4E-441B-8288-AA7DF4B660B2}" type="parTrans" cxnId="{0E835BBD-0C49-44B2-BBE0-591C280074FE}">
      <dgm:prSet/>
      <dgm:spPr/>
      <dgm:t>
        <a:bodyPr/>
        <a:lstStyle/>
        <a:p>
          <a:endParaRPr lang="en-US"/>
        </a:p>
      </dgm:t>
    </dgm:pt>
    <dgm:pt modelId="{D044FB48-6433-4B17-BB74-634E9533ADC3}" type="sibTrans" cxnId="{0E835BBD-0C49-44B2-BBE0-591C280074FE}">
      <dgm:prSet/>
      <dgm:spPr/>
      <dgm:t>
        <a:bodyPr/>
        <a:lstStyle/>
        <a:p>
          <a:endParaRPr lang="en-US"/>
        </a:p>
      </dgm:t>
    </dgm:pt>
    <dgm:pt modelId="{0BACDA29-9895-434A-B018-818E14845D83}">
      <dgm:prSet/>
      <dgm:spPr/>
      <dgm:t>
        <a:bodyPr/>
        <a:lstStyle/>
        <a:p>
          <a:r>
            <a:rPr lang="pl-PL"/>
            <a:t>Pary klucz-&gt;wartość</a:t>
          </a:r>
          <a:endParaRPr lang="en-US"/>
        </a:p>
      </dgm:t>
    </dgm:pt>
    <dgm:pt modelId="{4049D782-34DA-4DC4-8937-AD3B23B13A2F}" type="parTrans" cxnId="{25D6FA92-43B6-4927-AD40-4BB90CE303B5}">
      <dgm:prSet/>
      <dgm:spPr/>
      <dgm:t>
        <a:bodyPr/>
        <a:lstStyle/>
        <a:p>
          <a:endParaRPr lang="en-US"/>
        </a:p>
      </dgm:t>
    </dgm:pt>
    <dgm:pt modelId="{E33DDD4E-31AD-4AAC-94A6-EA90D1BBB06A}" type="sibTrans" cxnId="{25D6FA92-43B6-4927-AD40-4BB90CE303B5}">
      <dgm:prSet/>
      <dgm:spPr/>
      <dgm:t>
        <a:bodyPr/>
        <a:lstStyle/>
        <a:p>
          <a:endParaRPr lang="en-US"/>
        </a:p>
      </dgm:t>
    </dgm:pt>
    <dgm:pt modelId="{716FA020-F85F-4BD7-A586-33B6AE1EB406}">
      <dgm:prSet/>
      <dgm:spPr/>
      <dgm:t>
        <a:bodyPr/>
        <a:lstStyle/>
        <a:p>
          <a:r>
            <a:rPr lang="pl-PL"/>
            <a:t>Jest to jednokierunkowe ewentualnie da się zrobić dwustronne hash table o gorszej złożoności</a:t>
          </a:r>
          <a:endParaRPr lang="en-US"/>
        </a:p>
      </dgm:t>
    </dgm:pt>
    <dgm:pt modelId="{1DD6F4B4-CF12-4BA4-8790-AF0FBA4B7103}" type="parTrans" cxnId="{FA38F86A-DEEC-4BC3-BD4F-035D225201A5}">
      <dgm:prSet/>
      <dgm:spPr/>
      <dgm:t>
        <a:bodyPr/>
        <a:lstStyle/>
        <a:p>
          <a:endParaRPr lang="en-US"/>
        </a:p>
      </dgm:t>
    </dgm:pt>
    <dgm:pt modelId="{E4F9672F-D2FE-402D-8268-AF9C8C71E43A}" type="sibTrans" cxnId="{FA38F86A-DEEC-4BC3-BD4F-035D225201A5}">
      <dgm:prSet/>
      <dgm:spPr/>
      <dgm:t>
        <a:bodyPr/>
        <a:lstStyle/>
        <a:p>
          <a:endParaRPr lang="en-US"/>
        </a:p>
      </dgm:t>
    </dgm:pt>
    <dgm:pt modelId="{4E3C2D18-829F-4242-9427-8037231D84AD}" type="pres">
      <dgm:prSet presAssocID="{1CC25C8F-0A19-4FF6-A4B4-C47A818C408B}" presName="linear" presStyleCnt="0">
        <dgm:presLayoutVars>
          <dgm:animLvl val="lvl"/>
          <dgm:resizeHandles val="exact"/>
        </dgm:presLayoutVars>
      </dgm:prSet>
      <dgm:spPr/>
    </dgm:pt>
    <dgm:pt modelId="{8BCFD0A2-201D-496B-B4EB-63C5EC1DA88A}" type="pres">
      <dgm:prSet presAssocID="{ECF45546-D11A-42CB-A425-151EECFF735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F3E5861-F0B8-41D5-8B3A-DF07E94115B3}" type="pres">
      <dgm:prSet presAssocID="{8D589916-4449-4E5D-BDB5-0A7E50AAB315}" presName="spacer" presStyleCnt="0"/>
      <dgm:spPr/>
    </dgm:pt>
    <dgm:pt modelId="{922A403B-C8E8-4EE4-B498-6D066BCA05BF}" type="pres">
      <dgm:prSet presAssocID="{1865CE4E-4FF9-4199-854A-791C1FF534F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014EF63-5CA9-4E3B-9BED-F5C135D94E9C}" type="pres">
      <dgm:prSet presAssocID="{D044FB48-6433-4B17-BB74-634E9533ADC3}" presName="spacer" presStyleCnt="0"/>
      <dgm:spPr/>
    </dgm:pt>
    <dgm:pt modelId="{3CCE6F0D-5972-4FA5-954B-BF69BA0E727B}" type="pres">
      <dgm:prSet presAssocID="{0BACDA29-9895-434A-B018-818E14845D8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F694E66-5914-4A27-B5EC-DE683C0099CD}" type="pres">
      <dgm:prSet presAssocID="{E33DDD4E-31AD-4AAC-94A6-EA90D1BBB06A}" presName="spacer" presStyleCnt="0"/>
      <dgm:spPr/>
    </dgm:pt>
    <dgm:pt modelId="{D75D9387-AC55-42DF-890F-1400524CD5C6}" type="pres">
      <dgm:prSet presAssocID="{716FA020-F85F-4BD7-A586-33B6AE1EB40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D304E10-72B6-43C4-BADF-7FF25ED598F0}" type="presOf" srcId="{ECF45546-D11A-42CB-A425-151EECFF7354}" destId="{8BCFD0A2-201D-496B-B4EB-63C5EC1DA88A}" srcOrd="0" destOrd="0" presId="urn:microsoft.com/office/officeart/2005/8/layout/vList2"/>
    <dgm:cxn modelId="{5094432E-B79B-46B3-8EB1-A631EFC62C92}" type="presOf" srcId="{1865CE4E-4FF9-4199-854A-791C1FF534F3}" destId="{922A403B-C8E8-4EE4-B498-6D066BCA05BF}" srcOrd="0" destOrd="0" presId="urn:microsoft.com/office/officeart/2005/8/layout/vList2"/>
    <dgm:cxn modelId="{FA38F86A-DEEC-4BC3-BD4F-035D225201A5}" srcId="{1CC25C8F-0A19-4FF6-A4B4-C47A818C408B}" destId="{716FA020-F85F-4BD7-A586-33B6AE1EB406}" srcOrd="3" destOrd="0" parTransId="{1DD6F4B4-CF12-4BA4-8790-AF0FBA4B7103}" sibTransId="{E4F9672F-D2FE-402D-8268-AF9C8C71E43A}"/>
    <dgm:cxn modelId="{29E9B780-1226-4101-9A58-972661AA06CF}" type="presOf" srcId="{716FA020-F85F-4BD7-A586-33B6AE1EB406}" destId="{D75D9387-AC55-42DF-890F-1400524CD5C6}" srcOrd="0" destOrd="0" presId="urn:microsoft.com/office/officeart/2005/8/layout/vList2"/>
    <dgm:cxn modelId="{25D6FA92-43B6-4927-AD40-4BB90CE303B5}" srcId="{1CC25C8F-0A19-4FF6-A4B4-C47A818C408B}" destId="{0BACDA29-9895-434A-B018-818E14845D83}" srcOrd="2" destOrd="0" parTransId="{4049D782-34DA-4DC4-8937-AD3B23B13A2F}" sibTransId="{E33DDD4E-31AD-4AAC-94A6-EA90D1BBB06A}"/>
    <dgm:cxn modelId="{2FC001A8-6A11-4040-83F2-90A086EABFFB}" type="presOf" srcId="{0BACDA29-9895-434A-B018-818E14845D83}" destId="{3CCE6F0D-5972-4FA5-954B-BF69BA0E727B}" srcOrd="0" destOrd="0" presId="urn:microsoft.com/office/officeart/2005/8/layout/vList2"/>
    <dgm:cxn modelId="{1525E0BC-2B7F-48F0-9769-E4517D9B35E0}" type="presOf" srcId="{1CC25C8F-0A19-4FF6-A4B4-C47A818C408B}" destId="{4E3C2D18-829F-4242-9427-8037231D84AD}" srcOrd="0" destOrd="0" presId="urn:microsoft.com/office/officeart/2005/8/layout/vList2"/>
    <dgm:cxn modelId="{0E835BBD-0C49-44B2-BBE0-591C280074FE}" srcId="{1CC25C8F-0A19-4FF6-A4B4-C47A818C408B}" destId="{1865CE4E-4FF9-4199-854A-791C1FF534F3}" srcOrd="1" destOrd="0" parTransId="{EDEF31E8-4B4E-441B-8288-AA7DF4B660B2}" sibTransId="{D044FB48-6433-4B17-BB74-634E9533ADC3}"/>
    <dgm:cxn modelId="{5B1137C9-5447-4E94-9C1C-D0AE8DEA08B6}" srcId="{1CC25C8F-0A19-4FF6-A4B4-C47A818C408B}" destId="{ECF45546-D11A-42CB-A425-151EECFF7354}" srcOrd="0" destOrd="0" parTransId="{936B91DF-BF49-4B21-9664-7EFD7A9B4291}" sibTransId="{8D589916-4449-4E5D-BDB5-0A7E50AAB315}"/>
    <dgm:cxn modelId="{8E24A628-D931-4A5F-A392-D1A28E28801A}" type="presParOf" srcId="{4E3C2D18-829F-4242-9427-8037231D84AD}" destId="{8BCFD0A2-201D-496B-B4EB-63C5EC1DA88A}" srcOrd="0" destOrd="0" presId="urn:microsoft.com/office/officeart/2005/8/layout/vList2"/>
    <dgm:cxn modelId="{D8F7DF92-8A2E-4A8E-9FBF-36D27844418E}" type="presParOf" srcId="{4E3C2D18-829F-4242-9427-8037231D84AD}" destId="{DF3E5861-F0B8-41D5-8B3A-DF07E94115B3}" srcOrd="1" destOrd="0" presId="urn:microsoft.com/office/officeart/2005/8/layout/vList2"/>
    <dgm:cxn modelId="{5F61A9D1-B551-4767-9180-0DE94F092A5C}" type="presParOf" srcId="{4E3C2D18-829F-4242-9427-8037231D84AD}" destId="{922A403B-C8E8-4EE4-B498-6D066BCA05BF}" srcOrd="2" destOrd="0" presId="urn:microsoft.com/office/officeart/2005/8/layout/vList2"/>
    <dgm:cxn modelId="{63DC5F91-B64E-424F-973C-C43FF84684DF}" type="presParOf" srcId="{4E3C2D18-829F-4242-9427-8037231D84AD}" destId="{A014EF63-5CA9-4E3B-9BED-F5C135D94E9C}" srcOrd="3" destOrd="0" presId="urn:microsoft.com/office/officeart/2005/8/layout/vList2"/>
    <dgm:cxn modelId="{6E416C4B-D94D-4AB5-A828-016CAB1A8D25}" type="presParOf" srcId="{4E3C2D18-829F-4242-9427-8037231D84AD}" destId="{3CCE6F0D-5972-4FA5-954B-BF69BA0E727B}" srcOrd="4" destOrd="0" presId="urn:microsoft.com/office/officeart/2005/8/layout/vList2"/>
    <dgm:cxn modelId="{00231A42-D6F0-4E10-A395-31650CBF2232}" type="presParOf" srcId="{4E3C2D18-829F-4242-9427-8037231D84AD}" destId="{7F694E66-5914-4A27-B5EC-DE683C0099CD}" srcOrd="5" destOrd="0" presId="urn:microsoft.com/office/officeart/2005/8/layout/vList2"/>
    <dgm:cxn modelId="{8761E418-F98B-45F1-92B8-9CAD2262CFB8}" type="presParOf" srcId="{4E3C2D18-829F-4242-9427-8037231D84AD}" destId="{D75D9387-AC55-42DF-890F-1400524CD5C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18AE93-8353-4D6A-8027-3F937264AE9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DC76FF2-C750-41FF-BA5A-7BAA2CAF5C7D}">
      <dgm:prSet/>
      <dgm:spPr/>
      <dgm:t>
        <a:bodyPr/>
        <a:lstStyle/>
        <a:p>
          <a:r>
            <a:rPr lang="pl-PL"/>
            <a:t>PHP korzysta z hash table</a:t>
          </a:r>
          <a:endParaRPr lang="en-US"/>
        </a:p>
      </dgm:t>
    </dgm:pt>
    <dgm:pt modelId="{67BB4DCF-D7F9-4B5C-84A4-16799804F3F7}" type="parTrans" cxnId="{C34D9C32-E344-4D92-AB20-2142122CAA95}">
      <dgm:prSet/>
      <dgm:spPr/>
      <dgm:t>
        <a:bodyPr/>
        <a:lstStyle/>
        <a:p>
          <a:endParaRPr lang="en-US"/>
        </a:p>
      </dgm:t>
    </dgm:pt>
    <dgm:pt modelId="{2DD32189-FCF5-4447-9F18-DA56635A299C}" type="sibTrans" cxnId="{C34D9C32-E344-4D92-AB20-2142122CAA95}">
      <dgm:prSet/>
      <dgm:spPr/>
      <dgm:t>
        <a:bodyPr/>
        <a:lstStyle/>
        <a:p>
          <a:endParaRPr lang="en-US"/>
        </a:p>
      </dgm:t>
    </dgm:pt>
    <dgm:pt modelId="{8BFED9E7-BB32-4502-8D41-5747D7899CAD}">
      <dgm:prSet/>
      <dgm:spPr/>
      <dgm:t>
        <a:bodyPr/>
        <a:lstStyle/>
        <a:p>
          <a:r>
            <a:rPr lang="pl-PL"/>
            <a:t>Hash table jest wydajne</a:t>
          </a:r>
          <a:endParaRPr lang="en-US"/>
        </a:p>
      </dgm:t>
    </dgm:pt>
    <dgm:pt modelId="{0FF6E1D9-1625-4584-98CD-7822D3D49CB4}" type="parTrans" cxnId="{288E9E7A-5C15-4351-941D-2CDD195712D3}">
      <dgm:prSet/>
      <dgm:spPr/>
      <dgm:t>
        <a:bodyPr/>
        <a:lstStyle/>
        <a:p>
          <a:endParaRPr lang="en-US"/>
        </a:p>
      </dgm:t>
    </dgm:pt>
    <dgm:pt modelId="{A83C2315-6A11-474A-A7B7-F7F13F9DBF28}" type="sibTrans" cxnId="{288E9E7A-5C15-4351-941D-2CDD195712D3}">
      <dgm:prSet/>
      <dgm:spPr/>
      <dgm:t>
        <a:bodyPr/>
        <a:lstStyle/>
        <a:p>
          <a:endParaRPr lang="en-US"/>
        </a:p>
      </dgm:t>
    </dgm:pt>
    <dgm:pt modelId="{ACA25F2B-9DEE-4895-A4AE-18C219C2478C}">
      <dgm:prSet/>
      <dgm:spPr/>
      <dgm:t>
        <a:bodyPr/>
        <a:lstStyle/>
        <a:p>
          <a:r>
            <a:rPr lang="pl-PL" dirty="0"/>
            <a:t>Pozwala na istnienie dynamicznego zarządzania pamięcią przez języki programowania</a:t>
          </a:r>
          <a:endParaRPr lang="en-US" dirty="0"/>
        </a:p>
      </dgm:t>
    </dgm:pt>
    <dgm:pt modelId="{0FC615FF-62A4-4CA5-9440-F50B91E9BC30}" type="parTrans" cxnId="{0A3B2075-280F-431E-B822-22E6B33D66F6}">
      <dgm:prSet/>
      <dgm:spPr/>
      <dgm:t>
        <a:bodyPr/>
        <a:lstStyle/>
        <a:p>
          <a:endParaRPr lang="en-US"/>
        </a:p>
      </dgm:t>
    </dgm:pt>
    <dgm:pt modelId="{71EB948F-E79D-4B3A-AB0F-5396E48B05EA}" type="sibTrans" cxnId="{0A3B2075-280F-431E-B822-22E6B33D66F6}">
      <dgm:prSet/>
      <dgm:spPr/>
      <dgm:t>
        <a:bodyPr/>
        <a:lstStyle/>
        <a:p>
          <a:endParaRPr lang="en-US"/>
        </a:p>
      </dgm:t>
    </dgm:pt>
    <dgm:pt modelId="{BEED6F1F-C0BB-4A04-A9D6-003E9B431639}">
      <dgm:prSet/>
      <dgm:spPr/>
      <dgm:t>
        <a:bodyPr/>
        <a:lstStyle/>
        <a:p>
          <a:r>
            <a:rPr lang="pl-PL" dirty="0"/>
            <a:t>Pytanie do was- czy nowoczesne społeczeństwo (stworzone przez programistów) mogłoby istnieć bez hash tablów?</a:t>
          </a:r>
          <a:endParaRPr lang="en-US" dirty="0"/>
        </a:p>
      </dgm:t>
    </dgm:pt>
    <dgm:pt modelId="{B37241CA-4CA2-4456-8B85-95671FD4A96E}" type="parTrans" cxnId="{B5E7712D-0F55-4BB9-8C7E-0D3ED83F97B3}">
      <dgm:prSet/>
      <dgm:spPr/>
      <dgm:t>
        <a:bodyPr/>
        <a:lstStyle/>
        <a:p>
          <a:endParaRPr lang="en-US"/>
        </a:p>
      </dgm:t>
    </dgm:pt>
    <dgm:pt modelId="{449D7894-777C-4B7E-8581-43D298C493AE}" type="sibTrans" cxnId="{B5E7712D-0F55-4BB9-8C7E-0D3ED83F97B3}">
      <dgm:prSet/>
      <dgm:spPr/>
      <dgm:t>
        <a:bodyPr/>
        <a:lstStyle/>
        <a:p>
          <a:endParaRPr lang="en-US"/>
        </a:p>
      </dgm:t>
    </dgm:pt>
    <dgm:pt modelId="{01342F86-CEFE-4943-A6DD-59C3F5922892}">
      <dgm:prSet/>
      <dgm:spPr/>
      <dgm:t>
        <a:bodyPr/>
        <a:lstStyle/>
        <a:p>
          <a:r>
            <a:rPr lang="pl-PL"/>
            <a:t>Wiadomo jak właściwie każdy sposób dynamicznego zarządzania pamięcią powoduje fragmentację</a:t>
          </a:r>
          <a:endParaRPr lang="en-US" dirty="0"/>
        </a:p>
      </dgm:t>
    </dgm:pt>
    <dgm:pt modelId="{4DD6E0E2-18E4-44FB-9ADD-D746C5A33960}" type="parTrans" cxnId="{B6925FB8-E1D0-400B-A95D-60EAA4699C33}">
      <dgm:prSet/>
      <dgm:spPr/>
    </dgm:pt>
    <dgm:pt modelId="{EE0820F8-6856-48C9-9A51-EAC9C4086376}" type="sibTrans" cxnId="{B6925FB8-E1D0-400B-A95D-60EAA4699C33}">
      <dgm:prSet/>
      <dgm:spPr/>
    </dgm:pt>
    <dgm:pt modelId="{F051D4AE-36C1-4B41-8A55-CF05EBA4A0E2}" type="pres">
      <dgm:prSet presAssocID="{B718AE93-8353-4D6A-8027-3F937264AE94}" presName="linear" presStyleCnt="0">
        <dgm:presLayoutVars>
          <dgm:animLvl val="lvl"/>
          <dgm:resizeHandles val="exact"/>
        </dgm:presLayoutVars>
      </dgm:prSet>
      <dgm:spPr/>
    </dgm:pt>
    <dgm:pt modelId="{81DA7A1B-13E2-4683-B540-B8B97047079E}" type="pres">
      <dgm:prSet presAssocID="{3DC76FF2-C750-41FF-BA5A-7BAA2CAF5C7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2580BE7-47EF-453B-A437-82C52A4B7750}" type="pres">
      <dgm:prSet presAssocID="{2DD32189-FCF5-4447-9F18-DA56635A299C}" presName="spacer" presStyleCnt="0"/>
      <dgm:spPr/>
    </dgm:pt>
    <dgm:pt modelId="{EE245F44-62B7-46E8-8469-07C9C12796C7}" type="pres">
      <dgm:prSet presAssocID="{8BFED9E7-BB32-4502-8D41-5747D7899CA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019BB13-F74B-4EA8-8762-CD4BE0C15824}" type="pres">
      <dgm:prSet presAssocID="{A83C2315-6A11-474A-A7B7-F7F13F9DBF28}" presName="spacer" presStyleCnt="0"/>
      <dgm:spPr/>
    </dgm:pt>
    <dgm:pt modelId="{7031BDBF-15C8-4C47-B2D3-92AACC30CA29}" type="pres">
      <dgm:prSet presAssocID="{ACA25F2B-9DEE-4895-A4AE-18C219C2478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14C8F50-0CA9-4A21-939F-1C65AF3213BC}" type="pres">
      <dgm:prSet presAssocID="{71EB948F-E79D-4B3A-AB0F-5396E48B05EA}" presName="spacer" presStyleCnt="0"/>
      <dgm:spPr/>
    </dgm:pt>
    <dgm:pt modelId="{37831806-EBEF-40DA-952C-37514B7C0E82}" type="pres">
      <dgm:prSet presAssocID="{01342F86-CEFE-4943-A6DD-59C3F592289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CBAF92A-2CDE-44FD-8CBC-654423581FD1}" type="pres">
      <dgm:prSet presAssocID="{EE0820F8-6856-48C9-9A51-EAC9C4086376}" presName="spacer" presStyleCnt="0"/>
      <dgm:spPr/>
    </dgm:pt>
    <dgm:pt modelId="{982C6CF2-A7FD-4FDC-B6BC-1EEBD99C4E27}" type="pres">
      <dgm:prSet presAssocID="{BEED6F1F-C0BB-4A04-A9D6-003E9B43163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7CAFF23-0A46-4CCC-B255-B0108A2B3286}" type="presOf" srcId="{3DC76FF2-C750-41FF-BA5A-7BAA2CAF5C7D}" destId="{81DA7A1B-13E2-4683-B540-B8B97047079E}" srcOrd="0" destOrd="0" presId="urn:microsoft.com/office/officeart/2005/8/layout/vList2"/>
    <dgm:cxn modelId="{D45DA624-10D0-4BF0-97B7-782D45E0B511}" type="presOf" srcId="{ACA25F2B-9DEE-4895-A4AE-18C219C2478C}" destId="{7031BDBF-15C8-4C47-B2D3-92AACC30CA29}" srcOrd="0" destOrd="0" presId="urn:microsoft.com/office/officeart/2005/8/layout/vList2"/>
    <dgm:cxn modelId="{B5E7712D-0F55-4BB9-8C7E-0D3ED83F97B3}" srcId="{B718AE93-8353-4D6A-8027-3F937264AE94}" destId="{BEED6F1F-C0BB-4A04-A9D6-003E9B431639}" srcOrd="4" destOrd="0" parTransId="{B37241CA-4CA2-4456-8B85-95671FD4A96E}" sibTransId="{449D7894-777C-4B7E-8581-43D298C493AE}"/>
    <dgm:cxn modelId="{C34D9C32-E344-4D92-AB20-2142122CAA95}" srcId="{B718AE93-8353-4D6A-8027-3F937264AE94}" destId="{3DC76FF2-C750-41FF-BA5A-7BAA2CAF5C7D}" srcOrd="0" destOrd="0" parTransId="{67BB4DCF-D7F9-4B5C-84A4-16799804F3F7}" sibTransId="{2DD32189-FCF5-4447-9F18-DA56635A299C}"/>
    <dgm:cxn modelId="{5FADD233-C236-4664-9AF3-7EB7935D6E4C}" type="presOf" srcId="{8BFED9E7-BB32-4502-8D41-5747D7899CAD}" destId="{EE245F44-62B7-46E8-8469-07C9C12796C7}" srcOrd="0" destOrd="0" presId="urn:microsoft.com/office/officeart/2005/8/layout/vList2"/>
    <dgm:cxn modelId="{820F6736-4CD1-4BF7-9A9A-7B8A2A9DB7CA}" type="presOf" srcId="{01342F86-CEFE-4943-A6DD-59C3F5922892}" destId="{37831806-EBEF-40DA-952C-37514B7C0E82}" srcOrd="0" destOrd="0" presId="urn:microsoft.com/office/officeart/2005/8/layout/vList2"/>
    <dgm:cxn modelId="{0A3B2075-280F-431E-B822-22E6B33D66F6}" srcId="{B718AE93-8353-4D6A-8027-3F937264AE94}" destId="{ACA25F2B-9DEE-4895-A4AE-18C219C2478C}" srcOrd="2" destOrd="0" parTransId="{0FC615FF-62A4-4CA5-9440-F50B91E9BC30}" sibTransId="{71EB948F-E79D-4B3A-AB0F-5396E48B05EA}"/>
    <dgm:cxn modelId="{288E9E7A-5C15-4351-941D-2CDD195712D3}" srcId="{B718AE93-8353-4D6A-8027-3F937264AE94}" destId="{8BFED9E7-BB32-4502-8D41-5747D7899CAD}" srcOrd="1" destOrd="0" parTransId="{0FF6E1D9-1625-4584-98CD-7822D3D49CB4}" sibTransId="{A83C2315-6A11-474A-A7B7-F7F13F9DBF28}"/>
    <dgm:cxn modelId="{0A4ED386-FA20-4C21-B8DC-8D1F1BF9F7D4}" type="presOf" srcId="{BEED6F1F-C0BB-4A04-A9D6-003E9B431639}" destId="{982C6CF2-A7FD-4FDC-B6BC-1EEBD99C4E27}" srcOrd="0" destOrd="0" presId="urn:microsoft.com/office/officeart/2005/8/layout/vList2"/>
    <dgm:cxn modelId="{441FCBAE-7569-4416-9F1B-1B7339897A4A}" type="presOf" srcId="{B718AE93-8353-4D6A-8027-3F937264AE94}" destId="{F051D4AE-36C1-4B41-8A55-CF05EBA4A0E2}" srcOrd="0" destOrd="0" presId="urn:microsoft.com/office/officeart/2005/8/layout/vList2"/>
    <dgm:cxn modelId="{B6925FB8-E1D0-400B-A95D-60EAA4699C33}" srcId="{B718AE93-8353-4D6A-8027-3F937264AE94}" destId="{01342F86-CEFE-4943-A6DD-59C3F5922892}" srcOrd="3" destOrd="0" parTransId="{4DD6E0E2-18E4-44FB-9ADD-D746C5A33960}" sibTransId="{EE0820F8-6856-48C9-9A51-EAC9C4086376}"/>
    <dgm:cxn modelId="{FD0F5127-1F68-4433-B4D1-F70DB2D3BA19}" type="presParOf" srcId="{F051D4AE-36C1-4B41-8A55-CF05EBA4A0E2}" destId="{81DA7A1B-13E2-4683-B540-B8B97047079E}" srcOrd="0" destOrd="0" presId="urn:microsoft.com/office/officeart/2005/8/layout/vList2"/>
    <dgm:cxn modelId="{49E3EBD3-9A1E-45D0-9322-E1A5AA262AC3}" type="presParOf" srcId="{F051D4AE-36C1-4B41-8A55-CF05EBA4A0E2}" destId="{12580BE7-47EF-453B-A437-82C52A4B7750}" srcOrd="1" destOrd="0" presId="urn:microsoft.com/office/officeart/2005/8/layout/vList2"/>
    <dgm:cxn modelId="{E1AFEE81-32BB-4B01-9A5B-ED2986EA1319}" type="presParOf" srcId="{F051D4AE-36C1-4B41-8A55-CF05EBA4A0E2}" destId="{EE245F44-62B7-46E8-8469-07C9C12796C7}" srcOrd="2" destOrd="0" presId="urn:microsoft.com/office/officeart/2005/8/layout/vList2"/>
    <dgm:cxn modelId="{426D507E-513B-4D24-BA5F-07AAB112600D}" type="presParOf" srcId="{F051D4AE-36C1-4B41-8A55-CF05EBA4A0E2}" destId="{9019BB13-F74B-4EA8-8762-CD4BE0C15824}" srcOrd="3" destOrd="0" presId="urn:microsoft.com/office/officeart/2005/8/layout/vList2"/>
    <dgm:cxn modelId="{B1A3CFFF-254E-460D-ABB5-7D5AF9504C39}" type="presParOf" srcId="{F051D4AE-36C1-4B41-8A55-CF05EBA4A0E2}" destId="{7031BDBF-15C8-4C47-B2D3-92AACC30CA29}" srcOrd="4" destOrd="0" presId="urn:microsoft.com/office/officeart/2005/8/layout/vList2"/>
    <dgm:cxn modelId="{327CEBCA-C46B-45E7-B494-71CD41C52532}" type="presParOf" srcId="{F051D4AE-36C1-4B41-8A55-CF05EBA4A0E2}" destId="{C14C8F50-0CA9-4A21-939F-1C65AF3213BC}" srcOrd="5" destOrd="0" presId="urn:microsoft.com/office/officeart/2005/8/layout/vList2"/>
    <dgm:cxn modelId="{B1023EDD-D08F-4487-9218-3093BEB4D076}" type="presParOf" srcId="{F051D4AE-36C1-4B41-8A55-CF05EBA4A0E2}" destId="{37831806-EBEF-40DA-952C-37514B7C0E82}" srcOrd="6" destOrd="0" presId="urn:microsoft.com/office/officeart/2005/8/layout/vList2"/>
    <dgm:cxn modelId="{BEBE67C2-9893-4AA2-86F4-68EBB2F28D92}" type="presParOf" srcId="{F051D4AE-36C1-4B41-8A55-CF05EBA4A0E2}" destId="{ACBAF92A-2CDE-44FD-8CBC-654423581FD1}" srcOrd="7" destOrd="0" presId="urn:microsoft.com/office/officeart/2005/8/layout/vList2"/>
    <dgm:cxn modelId="{F0DF6FB8-5560-45FB-83EB-8382A1789DEB}" type="presParOf" srcId="{F051D4AE-36C1-4B41-8A55-CF05EBA4A0E2}" destId="{982C6CF2-A7FD-4FDC-B6BC-1EEBD99C4E2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BA307D-1754-4D25-A20D-D441C14EBDB1}">
      <dsp:nvSpPr>
        <dsp:cNvPr id="0" name=""/>
        <dsp:cNvSpPr/>
      </dsp:nvSpPr>
      <dsp:spPr>
        <a:xfrm>
          <a:off x="3364992" y="2124"/>
          <a:ext cx="3785616" cy="140228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Pozwala na dynamiczne powiązywanie kluczy z wartościami</a:t>
          </a:r>
          <a:endParaRPr lang="en-US" sz="1700" kern="1200"/>
        </a:p>
      </dsp:txBody>
      <dsp:txXfrm>
        <a:off x="3433446" y="70578"/>
        <a:ext cx="3648708" cy="1265378"/>
      </dsp:txXfrm>
    </dsp:sp>
    <dsp:sp modelId="{2D79BF90-0FB3-4C8D-ADF5-F5B110B36C24}">
      <dsp:nvSpPr>
        <dsp:cNvPr id="0" name=""/>
        <dsp:cNvSpPr/>
      </dsp:nvSpPr>
      <dsp:spPr>
        <a:xfrm>
          <a:off x="3364992" y="1474525"/>
          <a:ext cx="3785616" cy="1402286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Da się to zrobić samemu nie jest to żadna magia</a:t>
          </a:r>
          <a:endParaRPr lang="en-US" sz="1700" kern="1200"/>
        </a:p>
      </dsp:txBody>
      <dsp:txXfrm>
        <a:off x="3433446" y="1542979"/>
        <a:ext cx="3648708" cy="1265378"/>
      </dsp:txXfrm>
    </dsp:sp>
    <dsp:sp modelId="{082F947E-B811-404C-817A-EF4ECA45E245}">
      <dsp:nvSpPr>
        <dsp:cNvPr id="0" name=""/>
        <dsp:cNvSpPr/>
      </dsp:nvSpPr>
      <dsp:spPr>
        <a:xfrm>
          <a:off x="3364992" y="2946926"/>
          <a:ext cx="3785616" cy="1402286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Jest to nawet w miarę dobre rozwiązanie dlatego większość nowoczesnych języków programowania (albo pradawnych jak PHP) korzysta z tego rozwiązania</a:t>
          </a:r>
          <a:endParaRPr lang="en-US" sz="1700" kern="1200"/>
        </a:p>
      </dsp:txBody>
      <dsp:txXfrm>
        <a:off x="3433446" y="3015380"/>
        <a:ext cx="3648708" cy="12653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CFD0A2-201D-496B-B4EB-63C5EC1DA88A}">
      <dsp:nvSpPr>
        <dsp:cNvPr id="0" name=""/>
        <dsp:cNvSpPr/>
      </dsp:nvSpPr>
      <dsp:spPr>
        <a:xfrm>
          <a:off x="0" y="71356"/>
          <a:ext cx="10515600" cy="99815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Najpierw generujemy wektor dla „bucketów”</a:t>
          </a:r>
          <a:endParaRPr lang="en-US" sz="2500" kern="1200"/>
        </a:p>
      </dsp:txBody>
      <dsp:txXfrm>
        <a:off x="48726" y="120082"/>
        <a:ext cx="10418148" cy="900704"/>
      </dsp:txXfrm>
    </dsp:sp>
    <dsp:sp modelId="{922A403B-C8E8-4EE4-B498-6D066BCA05BF}">
      <dsp:nvSpPr>
        <dsp:cNvPr id="0" name=""/>
        <dsp:cNvSpPr/>
      </dsp:nvSpPr>
      <dsp:spPr>
        <a:xfrm>
          <a:off x="0" y="1141512"/>
          <a:ext cx="10515600" cy="99815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Bucket to wektor dla danego obliczonego hashu a w nim</a:t>
          </a:r>
          <a:endParaRPr lang="en-US" sz="2500" kern="1200"/>
        </a:p>
      </dsp:txBody>
      <dsp:txXfrm>
        <a:off x="48726" y="1190238"/>
        <a:ext cx="10418148" cy="900704"/>
      </dsp:txXfrm>
    </dsp:sp>
    <dsp:sp modelId="{3CCE6F0D-5972-4FA5-954B-BF69BA0E727B}">
      <dsp:nvSpPr>
        <dsp:cNvPr id="0" name=""/>
        <dsp:cNvSpPr/>
      </dsp:nvSpPr>
      <dsp:spPr>
        <a:xfrm>
          <a:off x="0" y="2211669"/>
          <a:ext cx="10515600" cy="99815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Pary klucz-&gt;wartość</a:t>
          </a:r>
          <a:endParaRPr lang="en-US" sz="2500" kern="1200"/>
        </a:p>
      </dsp:txBody>
      <dsp:txXfrm>
        <a:off x="48726" y="2260395"/>
        <a:ext cx="10418148" cy="900704"/>
      </dsp:txXfrm>
    </dsp:sp>
    <dsp:sp modelId="{D75D9387-AC55-42DF-890F-1400524CD5C6}">
      <dsp:nvSpPr>
        <dsp:cNvPr id="0" name=""/>
        <dsp:cNvSpPr/>
      </dsp:nvSpPr>
      <dsp:spPr>
        <a:xfrm>
          <a:off x="0" y="3281825"/>
          <a:ext cx="10515600" cy="99815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Jest to jednokierunkowe ewentualnie da się zrobić dwustronne hash table o gorszej złożoności</a:t>
          </a:r>
          <a:endParaRPr lang="en-US" sz="2500" kern="1200"/>
        </a:p>
      </dsp:txBody>
      <dsp:txXfrm>
        <a:off x="48726" y="3330551"/>
        <a:ext cx="10418148" cy="9007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DA7A1B-13E2-4683-B540-B8B97047079E}">
      <dsp:nvSpPr>
        <dsp:cNvPr id="0" name=""/>
        <dsp:cNvSpPr/>
      </dsp:nvSpPr>
      <dsp:spPr>
        <a:xfrm>
          <a:off x="0" y="124642"/>
          <a:ext cx="5508710" cy="101063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PHP korzysta z hash table</a:t>
          </a:r>
          <a:endParaRPr lang="en-US" sz="1800" kern="1200"/>
        </a:p>
      </dsp:txBody>
      <dsp:txXfrm>
        <a:off x="49335" y="173977"/>
        <a:ext cx="5410040" cy="911963"/>
      </dsp:txXfrm>
    </dsp:sp>
    <dsp:sp modelId="{EE245F44-62B7-46E8-8469-07C9C12796C7}">
      <dsp:nvSpPr>
        <dsp:cNvPr id="0" name=""/>
        <dsp:cNvSpPr/>
      </dsp:nvSpPr>
      <dsp:spPr>
        <a:xfrm>
          <a:off x="0" y="1187116"/>
          <a:ext cx="5508710" cy="1010633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Hash table jest wydajne</a:t>
          </a:r>
          <a:endParaRPr lang="en-US" sz="1800" kern="1200"/>
        </a:p>
      </dsp:txBody>
      <dsp:txXfrm>
        <a:off x="49335" y="1236451"/>
        <a:ext cx="5410040" cy="911963"/>
      </dsp:txXfrm>
    </dsp:sp>
    <dsp:sp modelId="{7031BDBF-15C8-4C47-B2D3-92AACC30CA29}">
      <dsp:nvSpPr>
        <dsp:cNvPr id="0" name=""/>
        <dsp:cNvSpPr/>
      </dsp:nvSpPr>
      <dsp:spPr>
        <a:xfrm>
          <a:off x="0" y="2249589"/>
          <a:ext cx="5508710" cy="1010633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 dirty="0"/>
            <a:t>Pozwala na istnienie dynamicznego zarządzania pamięcią przez języki programowania</a:t>
          </a:r>
          <a:endParaRPr lang="en-US" sz="1800" kern="1200" dirty="0"/>
        </a:p>
      </dsp:txBody>
      <dsp:txXfrm>
        <a:off x="49335" y="2298924"/>
        <a:ext cx="5410040" cy="911963"/>
      </dsp:txXfrm>
    </dsp:sp>
    <dsp:sp modelId="{37831806-EBEF-40DA-952C-37514B7C0E82}">
      <dsp:nvSpPr>
        <dsp:cNvPr id="0" name=""/>
        <dsp:cNvSpPr/>
      </dsp:nvSpPr>
      <dsp:spPr>
        <a:xfrm>
          <a:off x="0" y="3312062"/>
          <a:ext cx="5508710" cy="1010633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Wiadomo jak właściwie każdy sposób dynamicznego zarządzania pamięcią powoduje fragmentację</a:t>
          </a:r>
          <a:endParaRPr lang="en-US" sz="1800" kern="1200" dirty="0"/>
        </a:p>
      </dsp:txBody>
      <dsp:txXfrm>
        <a:off x="49335" y="3361397"/>
        <a:ext cx="5410040" cy="911963"/>
      </dsp:txXfrm>
    </dsp:sp>
    <dsp:sp modelId="{982C6CF2-A7FD-4FDC-B6BC-1EEBD99C4E27}">
      <dsp:nvSpPr>
        <dsp:cNvPr id="0" name=""/>
        <dsp:cNvSpPr/>
      </dsp:nvSpPr>
      <dsp:spPr>
        <a:xfrm>
          <a:off x="0" y="4374535"/>
          <a:ext cx="5508710" cy="1010633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 dirty="0"/>
            <a:t>Pytanie do was- czy nowoczesne społeczeństwo (stworzone przez programistów) mogłoby istnieć bez hash tablów?</a:t>
          </a:r>
          <a:endParaRPr lang="en-US" sz="1800" kern="1200" dirty="0"/>
        </a:p>
      </dsp:txBody>
      <dsp:txXfrm>
        <a:off x="49335" y="4423870"/>
        <a:ext cx="5410040" cy="9119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C464E-1C7D-F101-FBA3-8B2293BAC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F32613-B3AB-9B6F-ABB0-30C9F06C0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D01B9-26AE-81F7-3376-E77DB07D4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444-E138-4E51-BEBB-E4137A483A2D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68E2A-9B32-F37E-D6C9-D22097395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0250D-2C76-245B-176B-804AFF2F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9A21-D781-43E9-9319-C9E7BFE53A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93443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3F34E-A13A-26D0-55B6-87645565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4FBFF-F488-2194-053A-7CA083374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505AF-2FFD-F87F-535B-655BB21F9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444-E138-4E51-BEBB-E4137A483A2D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F81E4-0AE1-5B53-3E55-649BCA010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C0779-5F34-0012-9E3A-4947C75D7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9A21-D781-43E9-9319-C9E7BFE53A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82023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C4647-148D-1B61-BC60-2F9D41794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CC4DD-BDB0-6AA6-5F87-5A5CB9BEB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575A2-6952-C3FE-B2AC-5ACEA7116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444-E138-4E51-BEBB-E4137A483A2D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119A8-1E47-2DB8-A70E-77F938939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D6C29-5E68-2819-C74F-ADD1D124E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9A21-D781-43E9-9319-C9E7BFE53A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59992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24832-5A62-4A3D-3790-13299E8C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EA82D-49CD-D08E-DC7B-619D75E5AA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C99B41-5384-542D-A8E7-519604D60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AF8F4-C265-24E8-E1A8-9DBD15013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444-E138-4E51-BEBB-E4137A483A2D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EE467-8D75-9623-D3AD-43A45288C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1C35D-0B0F-DED9-8DB6-E3C5967C1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9A21-D781-43E9-9319-C9E7BFE53A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2622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B7A04-AB4E-A298-AF2A-DF72484D3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04231-5DE2-4C13-FCA9-F9D6EEA56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C255D-A310-DB52-CD63-0936E5A85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415588-58B6-A7B7-0964-A15F7E61E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BCB9F5-351E-2827-8B08-EF7D8B3CFB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122279-05EA-FDD4-78F2-7EE3E6D0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444-E138-4E51-BEBB-E4137A483A2D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E8DAD2-13F2-CE46-3FB7-40AE2154D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8F7D62-DBAE-5C85-6565-EC032F71A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9A21-D781-43E9-9319-C9E7BFE53A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34156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4ACD1-186E-D8A3-8EA2-5526EB463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B228F2-3C04-A72F-C905-FD46B00A0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444-E138-4E51-BEBB-E4137A483A2D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C2FD6-CBE5-287F-AE0A-1A515AF84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3EC18C-6103-4B16-2D25-914734E0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9A21-D781-43E9-9319-C9E7BFE53A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71951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9644DE-DBA8-84E8-D187-1CADF116E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444-E138-4E51-BEBB-E4137A483A2D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055B77-4CC3-7A03-F41A-D626A3E08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AA166-9DC8-5D5C-27C0-A0C23EB17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9A21-D781-43E9-9319-C9E7BFE53A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45959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A640-F368-E5B9-4D10-108D2C67B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3A749-E5D0-9D5D-984D-A9C1988C2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D5D6C-3951-2246-6F24-A7F0F5D33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BB1BB-4E9F-0085-C36A-6985A4D63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444-E138-4E51-BEBB-E4137A483A2D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37C78-29A6-B666-5E8F-38EA3A6F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EE523-C811-5C59-0AA7-EDA3D63AE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9A21-D781-43E9-9319-C9E7BFE53A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74780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FE50F-F255-A41B-FD70-5F1F378E6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BB5EB0-E60E-5D76-DB40-0B7370DAC2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34D876-1057-03D0-43EE-59C87239D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D58B0-A33C-CF01-B80F-E99D2EC2D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444-E138-4E51-BEBB-E4137A483A2D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96D28-F06A-B761-A060-32724EEE3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69D2D-FB5B-9B6F-B9FB-2A75921A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9A21-D781-43E9-9319-C9E7BFE53A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8931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F299A-BF88-410A-DFB9-E1AB5DE50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CE2044-9DE3-09ED-7F5B-194FECFEA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ECE73-B10A-1B9E-B91B-C2666847B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444-E138-4E51-BEBB-E4137A483A2D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DC1CD-C7C4-2578-11B1-B8E17BE2F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0313A-92C1-C340-12C0-05E2D268C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9A21-D781-43E9-9319-C9E7BFE53A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84217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882A7E-94B0-0B4B-9AAD-4F67D03DF5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E38492-E398-766C-A78B-CEB77691C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A0801-5439-DDB9-9991-547EFA7B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444-E138-4E51-BEBB-E4137A483A2D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FEE75-0D56-D7A2-253F-48C3DC15C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F3BE3-949B-734D-64B6-B6EA17134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C9A21-D781-43E9-9319-C9E7BFE53A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4944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8586D3-BEF0-4CD7-FA27-B25F63ECD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CEC1D-1ED3-0A35-5EE9-017BC7CFF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04141-0AB8-4643-031D-747C960B6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DB444-E138-4E51-BEBB-E4137A483A2D}" type="datetimeFigureOut">
              <a:rPr lang="pl-PL" smtClean="0"/>
              <a:t>07.12.2025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BDFA6-77F0-C2D8-5057-EB4220290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8135E-44D8-91AE-4B85-830CD9488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C9A21-D781-43E9-9319-C9E7BFE53A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8265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illed beef ribs with potato chips and sauce">
            <a:extLst>
              <a:ext uri="{FF2B5EF4-FFF2-40B4-BE49-F238E27FC236}">
                <a16:creationId xmlns:a16="http://schemas.microsoft.com/office/drawing/2014/main" id="{E01B0C42-BA1A-ADAC-219F-C05E92BF76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8725" b="7006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32AE32-8633-ED1F-195A-92641CC5D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Hash table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D8DEA4-A561-F741-0A00-A25965B4C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Do wykorzystania w chińskim PHP</a:t>
            </a:r>
          </a:p>
        </p:txBody>
      </p:sp>
    </p:spTree>
    <p:extLst>
      <p:ext uri="{BB962C8B-B14F-4D97-AF65-F5344CB8AC3E}">
        <p14:creationId xmlns:p14="http://schemas.microsoft.com/office/powerpoint/2010/main" val="977925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00E383-673F-823B-37F0-9DC0E0B744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654" b="1507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485D50-B0E7-1BEF-8C0A-E6D68CE3A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Problem i co rowiązuje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7D8814-E196-58B3-2560-F3560C1DC0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707566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02288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45B983-2DFD-643F-553D-B0B2FB362D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21919" b="1286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2238A9-ABCE-FD99-2514-EFB5F0E3B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Jak to działa?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ED5EB8-B30C-C315-7416-02994BB46D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079984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61005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755-720E-BF9C-C40C-39E54F0B4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Diagram funkcjonowania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A81A1-29C8-6245-B378-5BB3CE9C4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0564CE-8EC1-6833-3DF5-DB68228E49B1}"/>
              </a:ext>
            </a:extLst>
          </p:cNvPr>
          <p:cNvSpPr/>
          <p:nvPr/>
        </p:nvSpPr>
        <p:spPr>
          <a:xfrm>
            <a:off x="1414732" y="2587925"/>
            <a:ext cx="1690777" cy="10265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Klucz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816E35-7E6D-1342-EEFE-247200C100F4}"/>
              </a:ext>
            </a:extLst>
          </p:cNvPr>
          <p:cNvSpPr/>
          <p:nvPr/>
        </p:nvSpPr>
        <p:spPr>
          <a:xfrm>
            <a:off x="1414732" y="3864634"/>
            <a:ext cx="1690777" cy="10265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Wartość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96CED4-1081-5B07-F974-4727FC851A02}"/>
              </a:ext>
            </a:extLst>
          </p:cNvPr>
          <p:cNvSpPr/>
          <p:nvPr/>
        </p:nvSpPr>
        <p:spPr>
          <a:xfrm>
            <a:off x="4106174" y="2587925"/>
            <a:ext cx="1871932" cy="802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Hash fn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43893B-4347-149F-C62F-787F45A46DF2}"/>
              </a:ext>
            </a:extLst>
          </p:cNvPr>
          <p:cNvSpPr/>
          <p:nvPr/>
        </p:nvSpPr>
        <p:spPr>
          <a:xfrm>
            <a:off x="7021902" y="2432649"/>
            <a:ext cx="301924" cy="26396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K</a:t>
            </a:r>
          </a:p>
          <a:p>
            <a:pPr algn="ctr"/>
            <a:r>
              <a:rPr lang="pl-PL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L</a:t>
            </a:r>
          </a:p>
          <a:p>
            <a:pPr algn="ctr"/>
            <a:r>
              <a:rPr lang="pl-PL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</a:t>
            </a:r>
          </a:p>
          <a:p>
            <a:pPr algn="ctr"/>
            <a:r>
              <a:rPr lang="pl-PL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</a:t>
            </a:r>
          </a:p>
          <a:p>
            <a:pPr algn="ctr"/>
            <a:r>
              <a:rPr lang="pl-PL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Z</a:t>
            </a:r>
          </a:p>
          <a:p>
            <a:pPr algn="ctr"/>
            <a:r>
              <a:rPr lang="pl-PL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70FDA8-7CF0-6A17-E796-9338E69C4EA2}"/>
              </a:ext>
            </a:extLst>
          </p:cNvPr>
          <p:cNvSpPr/>
          <p:nvPr/>
        </p:nvSpPr>
        <p:spPr>
          <a:xfrm>
            <a:off x="7323826" y="2432649"/>
            <a:ext cx="2311880" cy="26396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Wartości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7E4EF0-343D-9249-EB67-E5551DC372E8}"/>
              </a:ext>
            </a:extLst>
          </p:cNvPr>
          <p:cNvCxnSpPr/>
          <p:nvPr/>
        </p:nvCxnSpPr>
        <p:spPr>
          <a:xfrm flipV="1">
            <a:off x="3217653" y="3088257"/>
            <a:ext cx="681487" cy="1035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B00B80F-9F94-4E82-0FC6-F4FD08CCF513}"/>
              </a:ext>
            </a:extLst>
          </p:cNvPr>
          <p:cNvCxnSpPr/>
          <p:nvPr/>
        </p:nvCxnSpPr>
        <p:spPr>
          <a:xfrm>
            <a:off x="6096000" y="3027872"/>
            <a:ext cx="718868" cy="603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471CA23-B7D3-D01B-E7D7-5BEF2F358C0E}"/>
              </a:ext>
            </a:extLst>
          </p:cNvPr>
          <p:cNvCxnSpPr/>
          <p:nvPr/>
        </p:nvCxnSpPr>
        <p:spPr>
          <a:xfrm>
            <a:off x="2613804" y="5072332"/>
            <a:ext cx="5244860" cy="51758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665859E-94C6-81A6-1D9F-6B9C9437023F}"/>
              </a:ext>
            </a:extLst>
          </p:cNvPr>
          <p:cNvCxnSpPr/>
          <p:nvPr/>
        </p:nvCxnSpPr>
        <p:spPr>
          <a:xfrm flipV="1">
            <a:off x="7858664" y="5072332"/>
            <a:ext cx="0" cy="517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945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F2E74C-F93C-1E40-F1F6-3C5867F3A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751" y="568517"/>
            <a:ext cx="6161004" cy="886379"/>
          </a:xfrm>
        </p:spPr>
        <p:txBody>
          <a:bodyPr>
            <a:normAutofit/>
          </a:bodyPr>
          <a:lstStyle/>
          <a:p>
            <a:r>
              <a:rPr lang="pl-PL" sz="4100">
                <a:solidFill>
                  <a:schemeClr val="bg1"/>
                </a:solidFill>
              </a:rPr>
              <a:t>Jak działa? Podgląd pamięci.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C880D58-0477-47F1-B3CB-4B3017941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635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6E09A0-3C98-A7EE-7118-D4B209D5DD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8" r="-4" b="16569"/>
          <a:stretch>
            <a:fillRect/>
          </a:stretch>
        </p:blipFill>
        <p:spPr>
          <a:xfrm>
            <a:off x="235534" y="1009050"/>
            <a:ext cx="3296556" cy="3296556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ln w="28575">
            <a:noFill/>
          </a:ln>
        </p:spPr>
      </p:pic>
      <p:sp>
        <p:nvSpPr>
          <p:cNvPr id="20" name="Graphic 212">
            <a:extLst>
              <a:ext uri="{FF2B5EF4-FFF2-40B4-BE49-F238E27FC236}">
                <a16:creationId xmlns:a16="http://schemas.microsoft.com/office/drawing/2014/main" id="{877E3FF1-E4B8-49CB-9DD6-7D2067808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9510" y="2210504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30BDE8C6-094E-46E6-BD5E-75FAB4F7C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9510" y="2210504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94C64F6-F09E-A596-2AE4-240F093C8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l-PL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5898D2-2486-3251-A565-6D2F3FB249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495" b="4505"/>
          <a:stretch>
            <a:fillRect/>
          </a:stretch>
        </p:blipFill>
        <p:spPr>
          <a:xfrm>
            <a:off x="2841433" y="3429000"/>
            <a:ext cx="2965878" cy="2965878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ln w="28575">
            <a:noFill/>
          </a:ln>
        </p:spPr>
      </p:pic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88475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1EAD6B-34DF-518E-51E0-669C4D564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088" y="565739"/>
            <a:ext cx="9745883" cy="1124949"/>
          </a:xfrm>
        </p:spPr>
        <p:txBody>
          <a:bodyPr>
            <a:normAutofit/>
          </a:bodyPr>
          <a:lstStyle/>
          <a:p>
            <a:r>
              <a:rPr lang="pl-PL">
                <a:solidFill>
                  <a:schemeClr val="bg1"/>
                </a:solidFill>
              </a:rPr>
              <a:t>Złożoność pamięci i czasowa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D42DD4-86F6-4FD2-869F-32D35E310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1037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C36B8C5-0DEB-41B5-911D-572E2E835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16069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DC987A-A8C7-4C23-9BF5-33E9F6F2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6766" y="2256427"/>
            <a:ext cx="10855283" cy="3963398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13F2CF-C6DF-4CE1-A6F0-E3B1BFBB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256427"/>
            <a:ext cx="10853849" cy="3955009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325C15-4820-4911-B66E-A5F917CFA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5106" y="2125615"/>
            <a:ext cx="10855283" cy="397476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EE09EDD-F15C-21AA-124C-07571B8E3C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9869872"/>
              </p:ext>
            </p:extLst>
          </p:nvPr>
        </p:nvGraphicFramePr>
        <p:xfrm>
          <a:off x="1093694" y="2834243"/>
          <a:ext cx="10260108" cy="2554297"/>
        </p:xfrm>
        <a:graphic>
          <a:graphicData uri="http://schemas.openxmlformats.org/drawingml/2006/table">
            <a:tbl>
              <a:tblPr/>
              <a:tblGrid>
                <a:gridCol w="1789538">
                  <a:extLst>
                    <a:ext uri="{9D8B030D-6E8A-4147-A177-3AD203B41FA5}">
                      <a16:colId xmlns:a16="http://schemas.microsoft.com/office/drawing/2014/main" val="2832380582"/>
                    </a:ext>
                  </a:extLst>
                </a:gridCol>
                <a:gridCol w="3074614">
                  <a:extLst>
                    <a:ext uri="{9D8B030D-6E8A-4147-A177-3AD203B41FA5}">
                      <a16:colId xmlns:a16="http://schemas.microsoft.com/office/drawing/2014/main" val="87671918"/>
                    </a:ext>
                  </a:extLst>
                </a:gridCol>
                <a:gridCol w="1816880">
                  <a:extLst>
                    <a:ext uri="{9D8B030D-6E8A-4147-A177-3AD203B41FA5}">
                      <a16:colId xmlns:a16="http://schemas.microsoft.com/office/drawing/2014/main" val="1393235588"/>
                    </a:ext>
                  </a:extLst>
                </a:gridCol>
                <a:gridCol w="1939919">
                  <a:extLst>
                    <a:ext uri="{9D8B030D-6E8A-4147-A177-3AD203B41FA5}">
                      <a16:colId xmlns:a16="http://schemas.microsoft.com/office/drawing/2014/main" val="1955806387"/>
                    </a:ext>
                  </a:extLst>
                </a:gridCol>
                <a:gridCol w="1639157">
                  <a:extLst>
                    <a:ext uri="{9D8B030D-6E8A-4147-A177-3AD203B41FA5}">
                      <a16:colId xmlns:a16="http://schemas.microsoft.com/office/drawing/2014/main" val="4292210991"/>
                    </a:ext>
                  </a:extLst>
                </a:gridCol>
              </a:tblGrid>
              <a:tr h="10482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900" b="1" i="0" u="none" strike="noStrike" dirty="0">
                          <a:solidFill>
                            <a:srgbClr val="9F9F9F"/>
                          </a:solidFill>
                          <a:effectLst/>
                          <a:latin typeface="Arial" panose="020B0604020202020204" pitchFamily="34" charset="0"/>
                        </a:rPr>
                        <a:t>Metoda/BigO</a:t>
                      </a:r>
                      <a:endParaRPr lang="pl-PL" sz="1900" b="0" i="0" u="none" strike="noStrike" dirty="0">
                        <a:solidFill>
                          <a:srgbClr val="9F9F9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293" marR="133293" marT="61520" marB="61520" anchor="ctr">
                    <a:lnL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900" b="1" i="0" u="none" strike="noStrike" dirty="0">
                          <a:solidFill>
                            <a:srgbClr val="9F9F9F"/>
                          </a:solidFill>
                          <a:effectLst/>
                          <a:latin typeface="Arial" panose="020B0604020202020204" pitchFamily="34" charset="0"/>
                        </a:rPr>
                        <a:t>hashFunction(string s)</a:t>
                      </a:r>
                      <a:endParaRPr lang="pl-PL" sz="1900" b="0" i="0" u="none" strike="noStrike" dirty="0">
                        <a:solidFill>
                          <a:srgbClr val="9F9F9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293" marR="133293" marT="61520" marB="61520" anchor="ctr">
                    <a:lnL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1" i="0" u="none" strike="noStrike">
                          <a:solidFill>
                            <a:srgbClr val="9F9F9F"/>
                          </a:solidFill>
                          <a:effectLst/>
                          <a:latin typeface="Arial" panose="020B0604020202020204" pitchFamily="34" charset="0"/>
                        </a:rPr>
                        <a:t>insert(const string&amp; s, string key)</a:t>
                      </a:r>
                      <a:endParaRPr lang="en-US" sz="1900" b="0" i="0" u="none" strike="noStrike">
                        <a:solidFill>
                          <a:srgbClr val="9F9F9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293" marR="133293" marT="61520" marB="61520" anchor="ctr">
                    <a:lnL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900" b="1" i="0" u="none" strike="noStrike">
                          <a:solidFill>
                            <a:srgbClr val="9F9F9F"/>
                          </a:solidFill>
                          <a:effectLst/>
                          <a:latin typeface="Arial" panose="020B0604020202020204" pitchFamily="34" charset="0"/>
                        </a:rPr>
                        <a:t>search(const string&amp; s)</a:t>
                      </a:r>
                      <a:endParaRPr lang="pl-PL" sz="1900" b="0" i="0" u="none" strike="noStrike">
                        <a:solidFill>
                          <a:srgbClr val="9F9F9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293" marR="133293" marT="61520" marB="61520" anchor="ctr">
                    <a:lnL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900" b="1" i="0" u="none" strike="noStrike">
                          <a:solidFill>
                            <a:srgbClr val="9F9F9F"/>
                          </a:solidFill>
                          <a:effectLst/>
                          <a:latin typeface="Arial" panose="020B0604020202020204" pitchFamily="34" charset="0"/>
                        </a:rPr>
                        <a:t>Ogólnie</a:t>
                      </a:r>
                      <a:endParaRPr lang="pl-PL" sz="1900" b="0" i="0" u="none" strike="noStrike">
                        <a:solidFill>
                          <a:srgbClr val="9F9F9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293" marR="133293" marT="61520" marB="61520" anchor="ctr">
                    <a:lnL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732837"/>
                  </a:ext>
                </a:extLst>
              </a:tr>
              <a:tr h="7530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900" b="0" i="0" u="none" strike="noStrike" dirty="0">
                          <a:solidFill>
                            <a:srgbClr val="9F9F9F"/>
                          </a:solidFill>
                          <a:effectLst/>
                          <a:latin typeface="Arial" panose="020B0604020202020204" pitchFamily="34" charset="0"/>
                        </a:rPr>
                        <a:t>Złożoność O czasowa</a:t>
                      </a:r>
                    </a:p>
                  </a:txBody>
                  <a:tcPr marL="133293" marR="133293" marT="61520" marB="61520" anchor="ctr">
                    <a:lnL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900" b="0" i="0" u="none" strike="noStrike" dirty="0">
                          <a:solidFill>
                            <a:srgbClr val="9F9F9F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33293" marR="133293" marT="61520" marB="61520" anchor="ctr">
                    <a:lnL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900" b="0" i="0" u="none" strike="noStrike" dirty="0">
                          <a:solidFill>
                            <a:srgbClr val="9F9F9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33293" marR="133293" marT="61520" marB="61520" anchor="ctr">
                    <a:lnL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900" b="0" i="0" u="none" strike="noStrike" dirty="0">
                          <a:solidFill>
                            <a:srgbClr val="9F9F9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33293" marR="133293" marT="61520" marB="61520" anchor="ctr">
                    <a:lnL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900" b="0" i="0" u="none" strike="noStrike" dirty="0">
                          <a:solidFill>
                            <a:srgbClr val="9F9F9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33293" marR="133293" marT="61520" marB="61520" anchor="ctr">
                    <a:lnL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014935"/>
                  </a:ext>
                </a:extLst>
              </a:tr>
              <a:tr h="7530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900" b="0" i="0" u="none" strike="noStrike" dirty="0">
                          <a:solidFill>
                            <a:srgbClr val="A7A7A7"/>
                          </a:solidFill>
                          <a:effectLst/>
                          <a:latin typeface="Arial" panose="020B0604020202020204" pitchFamily="34" charset="0"/>
                        </a:rPr>
                        <a:t>Złożoność O pamięci</a:t>
                      </a:r>
                    </a:p>
                  </a:txBody>
                  <a:tcPr marL="133293" marR="133293" marT="61520" marB="61520" anchor="ctr">
                    <a:lnL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900" b="0" i="0" u="none" strike="noStrike" dirty="0">
                          <a:solidFill>
                            <a:srgbClr val="A7A7A7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33293" marR="133293" marT="61520" marB="61520" anchor="ctr">
                    <a:lnL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900" b="0" i="0" u="none" strike="noStrike" dirty="0">
                          <a:solidFill>
                            <a:srgbClr val="A7A7A7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33293" marR="133293" marT="61520" marB="61520" anchor="ctr">
                    <a:lnL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900" b="0" i="0" u="none" strike="noStrike" dirty="0">
                          <a:solidFill>
                            <a:srgbClr val="A7A7A7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33293" marR="133293" marT="61520" marB="61520" anchor="ctr">
                    <a:lnL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900" b="0" i="0" u="none" strike="noStrike" dirty="0">
                          <a:solidFill>
                            <a:srgbClr val="A7A7A7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33293" marR="133293" marT="61520" marB="61520" anchor="ctr">
                    <a:lnL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41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56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3791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CFEB548-CACC-4915-BA3A-ECFAD4BE0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7DD617-02C2-4388-A86E-BAB7BD284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971532D-ED15-4EA1-8D74-8B9D49117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E0E949-6174-47F4-871C-39B2BE7B4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A81FA79-0462-498C-A7A0-4F97CB9BD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B13F096-ACB3-4289-ADE9-7BCF5727CE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42D1F89-7331-4DB6-9053-DE817E604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527D98C-AF53-420B-A7B6-DD5AA7D53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F0B76EE-9601-45D1-815F-6B076D42F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F5FB023-5222-4B9E-B6D1-A5040E4CE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AAEED21-38DA-46C2-93A3-F597C8761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7EFB714-3172-4F11-BA4B-04073494A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783C632-F1E2-40EE-AFA0-EF8D52D677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980DE84-E4A8-4C12-97F1-AADA86FFB0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A4FCEB1-CD0B-4966-8A9D-F458E4F79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3866B94-A099-49F6-A378-974CED7F5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103C908-3FF0-4A95-851C-DF3C650FF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AF400D3-D15B-4146-82E6-B2FC1194F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02F76C8-7CAD-4B72-BD0D-072D2AFA0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CEBAD8-9DE5-4790-9CD4-C384EB371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D3B7B9BA-215A-4923-954F-3DAE9523A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4013081-B23F-45CB-A45B-562B629AD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B8B11FB-E867-4638-B75F-B4B7DBDDB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BC84FC8-9600-4AE5-9E77-38E2363A3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514F95D-50D5-4B76-B347-91D1D76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85455D4-020C-4462-8A90-3B6434A50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8E34AA-D84E-FF9C-4A19-D6E1CFF19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5"/>
            <a:ext cx="4948230" cy="5509815"/>
          </a:xfrm>
          <a:noFill/>
        </p:spPr>
        <p:txBody>
          <a:bodyPr anchor="t">
            <a:normAutofit/>
          </a:bodyPr>
          <a:lstStyle/>
          <a:p>
            <a:r>
              <a:rPr lang="pl-PL" sz="4800"/>
              <a:t>Wnioski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C8730E1-9FA6-9674-A6EA-4C68B0D5E6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8776103"/>
              </p:ext>
            </p:extLst>
          </p:nvPr>
        </p:nvGraphicFramePr>
        <p:xfrm>
          <a:off x="5815855" y="546369"/>
          <a:ext cx="5508711" cy="5509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8300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197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Hash table</vt:lpstr>
      <vt:lpstr>Problem i co rowiązuje</vt:lpstr>
      <vt:lpstr>Jak to działa?</vt:lpstr>
      <vt:lpstr>Diagram funkcjonowania</vt:lpstr>
      <vt:lpstr>Jak działa? Podgląd pamięci.</vt:lpstr>
      <vt:lpstr>Złożoność pamięci i czasowa</vt:lpstr>
      <vt:lpstr>Wnioski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Piotr Kowalik</dc:creator>
  <cp:lastModifiedBy>Piotr Kowalik</cp:lastModifiedBy>
  <cp:revision>1</cp:revision>
  <dcterms:created xsi:type="dcterms:W3CDTF">2025-12-07T20:03:04Z</dcterms:created>
  <dcterms:modified xsi:type="dcterms:W3CDTF">2025-12-07T20:22:41Z</dcterms:modified>
</cp:coreProperties>
</file>